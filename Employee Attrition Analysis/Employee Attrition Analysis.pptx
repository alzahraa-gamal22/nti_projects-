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365" y="2535584"/>
            <a:ext cx="10161270" cy="1009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50" b="1" i="0" u="none">
                <a:solidFill>
                  <a:srgbClr val="F9FAFB"/>
                </a:solidFill>
                <a:latin typeface="Poppins"/>
              </a:rPr>
              <a:t>Employee Attrition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7300" y="3735734"/>
            <a:ext cx="967740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9CA3AF"/>
                </a:solidFill>
                <a:latin typeface="Lato"/>
              </a:rPr>
              <a:t>Final Business Report &amp; Retention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38BDF8"/>
                </a:solidFill>
                <a:latin typeface="Poppins SemiBold"/>
              </a:rPr>
              <a:t>Executive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2633662"/>
            <a:ext cx="5286375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000"/>
              </a:lnSpc>
              <a:defRPr/>
            </a:pPr>
            <a:r>
              <a:rPr sz="12000" b="1" i="0" u="none">
                <a:solidFill>
                  <a:srgbClr val="FBBF24"/>
                </a:solidFill>
                <a:latin typeface="Poppins"/>
              </a:rPr>
              <a:t>17.25%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252912"/>
            <a:ext cx="52863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50" b="0" i="0" u="none">
                <a:solidFill>
                  <a:srgbClr val="F9FAFB"/>
                </a:solidFill>
                <a:latin typeface="Lato SemiBold"/>
              </a:rPr>
              <a:t>Company Attrition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2633662"/>
            <a:ext cx="555069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3F4F6"/>
                </a:solidFill>
                <a:latin typeface="Poppins SemiBold"/>
              </a:rPr>
              <a:t>The Cost of Turnover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4125" y="3176587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D1D5DB"/>
                </a:solidFill>
                <a:latin typeface="Lato"/>
              </a:rPr>
              <a:t>Employee turnover represents a </a:t>
            </a:r>
            <a:r>
              <a:rPr sz="1500" b="1" i="0" u="none">
                <a:solidFill>
                  <a:srgbClr val="F87171"/>
                </a:solidFill>
                <a:latin typeface="Lato"/>
              </a:rPr>
              <a:t>major challenge</a:t>
            </a:r>
            <a:r>
              <a:rPr sz="1500" b="0" i="0" u="none">
                <a:solidFill>
                  <a:srgbClr val="D1D5DB"/>
                </a:solidFill>
                <a:latin typeface="Lato"/>
              </a:rPr>
              <a:t> for organizations because it increases recruitment costs and disrupts team productivity.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4125" y="4233862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D1D5DB"/>
                </a:solidFill>
                <a:latin typeface="Lato"/>
              </a:rPr>
              <a:t>Most importantly, it results in the loss of valuable organizational knowledge. The dataset indicates that approximately </a:t>
            </a:r>
            <a:r>
              <a:rPr sz="1500" b="1" i="0" u="none">
                <a:solidFill>
                  <a:srgbClr val="FBBF24"/>
                </a:solidFill>
                <a:latin typeface="Lato"/>
              </a:rPr>
              <a:t>17.25%</a:t>
            </a:r>
            <a:r>
              <a:rPr sz="1500" b="0" i="0" u="none">
                <a:solidFill>
                  <a:srgbClr val="D1D5DB"/>
                </a:solidFill>
                <a:latin typeface="Lato"/>
              </a:rPr>
              <a:t> of employees left the company, while </a:t>
            </a:r>
            <a:r>
              <a:rPr sz="1500" b="1" i="0" u="none">
                <a:solidFill>
                  <a:srgbClr val="38BDF8"/>
                </a:solidFill>
                <a:latin typeface="Lato"/>
              </a:rPr>
              <a:t>82.75%</a:t>
            </a:r>
            <a:r>
              <a:rPr sz="1500" b="0" i="0" u="none">
                <a:solidFill>
                  <a:srgbClr val="D1D5DB"/>
                </a:solidFill>
                <a:latin typeface="Lato"/>
              </a:rPr>
              <a:t> remained.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47887"/>
            <a:ext cx="3492549" cy="3629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147887"/>
            <a:ext cx="3492549" cy="3629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147887"/>
            <a:ext cx="3492549" cy="3629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38BDF8"/>
                </a:solidFill>
                <a:latin typeface="Poppins SemiBold"/>
              </a:rPr>
              <a:t>Key Attrition Drivers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7526" y="3176587"/>
            <a:ext cx="278034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F3F4F6"/>
                </a:solidFill>
                <a:latin typeface="Poppins SemiBold"/>
              </a:rPr>
              <a:t>Excessive Overtime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719512"/>
            <a:ext cx="290199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D1D5DB"/>
                </a:solidFill>
                <a:latin typeface="Lato"/>
              </a:rPr>
              <a:t>Employees working overtime consistently exhibit a </a:t>
            </a:r>
            <a:r>
              <a:rPr sz="1500" b="1" i="0" u="none">
                <a:solidFill>
                  <a:srgbClr val="F87171"/>
                </a:solidFill>
                <a:latin typeface="Lato"/>
              </a:rPr>
              <a:t>much higher likelihood</a:t>
            </a:r>
            <a:r>
              <a:rPr sz="1500" b="0" i="0" u="none">
                <a:solidFill>
                  <a:srgbClr val="D1D5DB"/>
                </a:solidFill>
                <a:latin typeface="Lato"/>
              </a:rPr>
              <a:t> of leaving the organization than employees with normal working schedules.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0830" y="3176587"/>
            <a:ext cx="271033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F3F4F6"/>
                </a:solidFill>
                <a:latin typeface="Poppins SemiBold"/>
              </a:rPr>
              <a:t>Early-Career 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719512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D1D5DB"/>
                </a:solidFill>
                <a:latin typeface="Lato"/>
              </a:rPr>
              <a:t>Attrition is heavily concentrated among </a:t>
            </a:r>
            <a:r>
              <a:rPr sz="1500" b="1" i="0" u="none">
                <a:solidFill>
                  <a:srgbClr val="FBBF24"/>
                </a:solidFill>
                <a:latin typeface="Lato"/>
              </a:rPr>
              <a:t>junior employees</a:t>
            </a:r>
            <a:r>
              <a:rPr sz="1500" b="0" i="0" u="none">
                <a:solidFill>
                  <a:srgbClr val="D1D5DB"/>
                </a:solidFill>
                <a:latin typeface="Lato"/>
              </a:rPr>
              <a:t> and those with short company tenure, before they become fully established.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0824" y="3176587"/>
            <a:ext cx="3047099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F3F4F6"/>
                </a:solidFill>
                <a:latin typeface="Poppins SemiBold"/>
              </a:rPr>
              <a:t>Lower Compensation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3374" y="4119562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D1D5DB"/>
                </a:solidFill>
                <a:latin typeface="Lato"/>
              </a:rPr>
              <a:t>Employees who resigned generally earn </a:t>
            </a:r>
            <a:r>
              <a:rPr sz="1500" b="1" i="0" u="none">
                <a:solidFill>
                  <a:srgbClr val="F87171"/>
                </a:solidFill>
                <a:latin typeface="Lato"/>
              </a:rPr>
              <a:t>lower monthly salaries</a:t>
            </a:r>
            <a:r>
              <a:rPr sz="1500" b="0" i="0" u="none">
                <a:solidFill>
                  <a:srgbClr val="D1D5DB"/>
                </a:solidFill>
                <a:latin typeface="Lato"/>
              </a:rPr>
              <a:t>. Salary appears to be a critical, though not sole, retention factor.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9100" y="2490787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5975" y="2490787"/>
            <a:ext cx="40005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7124" y="2490787"/>
            <a:ext cx="51435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95512"/>
            <a:ext cx="3492549" cy="3533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195512"/>
            <a:ext cx="3492549" cy="3533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195512"/>
            <a:ext cx="3492549" cy="35337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38BDF8"/>
                </a:solidFill>
                <a:latin typeface="Poppins SemiBold"/>
              </a:rPr>
              <a:t>Additional Attrition Drivers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02561" y="3224212"/>
            <a:ext cx="223027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F3F4F6"/>
                </a:solidFill>
                <a:latin typeface="Poppins SemiBold"/>
              </a:rPr>
              <a:t>Frequent Travel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767137"/>
            <a:ext cx="290199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D1D5DB"/>
                </a:solidFill>
                <a:latin typeface="Lato"/>
              </a:rPr>
              <a:t>Employees who travel frequently experience noticeably </a:t>
            </a:r>
            <a:r>
              <a:rPr sz="1500" b="1" i="0" u="none">
                <a:solidFill>
                  <a:srgbClr val="F87171"/>
                </a:solidFill>
                <a:latin typeface="Lato"/>
              </a:rPr>
              <a:t>higher attrition</a:t>
            </a:r>
            <a:r>
              <a:rPr sz="1500" b="0" i="0" u="none">
                <a:solidFill>
                  <a:srgbClr val="D1D5DB"/>
                </a:solidFill>
                <a:latin typeface="Lato"/>
              </a:rPr>
              <a:t>, likely due to stress, fatigue, and reduced work-life balance.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5816" y="3224212"/>
            <a:ext cx="294036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F3F4F6"/>
                </a:solidFill>
                <a:latin typeface="Poppins SemiBold"/>
              </a:rPr>
              <a:t>Low Job Satisfaction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767137"/>
            <a:ext cx="290199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D1D5DB"/>
                </a:solidFill>
                <a:latin typeface="Lato"/>
              </a:rPr>
              <a:t>Employees with </a:t>
            </a:r>
            <a:r>
              <a:rPr sz="1500" b="1" i="0" u="none">
                <a:solidFill>
                  <a:srgbClr val="FBBF24"/>
                </a:solidFill>
                <a:latin typeface="Lato"/>
              </a:rPr>
              <a:t>low job satisfaction</a:t>
            </a:r>
            <a:r>
              <a:rPr sz="1500" b="0" i="0" u="none">
                <a:solidFill>
                  <a:srgbClr val="D1D5DB"/>
                </a:solidFill>
                <a:latin typeface="Lato"/>
              </a:rPr>
              <a:t> leave at considerably higher rates. Improving the employee experience is crucial for retention.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74174" y="3224212"/>
            <a:ext cx="2000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F3F4F6"/>
                </a:solidFill>
                <a:latin typeface="Poppins SemiBold"/>
              </a:rPr>
              <a:t>Marital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3374" y="3767137"/>
            <a:ext cx="290199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Lato"/>
              </a:rPr>
              <a:t>Single employees</a:t>
            </a:r>
            <a:r>
              <a:rPr sz="1500" b="0" i="0" u="none">
                <a:solidFill>
                  <a:srgbClr val="D1D5DB"/>
                </a:solidFill>
                <a:latin typeface="Lato"/>
              </a:rPr>
              <a:t> experience the highest attrition among all marital groups, suggesting demographic characteristics contribute to patterns.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1950" y="2538412"/>
            <a:ext cx="5715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7400" y="2538412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5699" y="2538412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152650"/>
            <a:ext cx="52863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38BDF8"/>
                </a:solidFill>
                <a:latin typeface="Poppins SemiBold"/>
              </a:rP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2152650"/>
            <a:ext cx="52863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D1D5DB"/>
                </a:solidFill>
                <a:latin typeface="Lato"/>
              </a:rPr>
              <a:t>The core objectives of this analytical project were to: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272593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D1D5DB"/>
                </a:solidFill>
                <a:latin typeface="La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2725935"/>
            <a:ext cx="504825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Lato"/>
              </a:rPr>
              <a:t>Assess</a:t>
            </a:r>
            <a:r>
              <a:rPr sz="1500" b="0" i="0" u="none">
                <a:solidFill>
                  <a:srgbClr val="D1D5DB"/>
                </a:solidFill>
                <a:latin typeface="Lato"/>
              </a:rPr>
              <a:t> overall employee attrition rates.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317361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D1D5DB"/>
                </a:solidFill>
                <a:latin typeface="La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173610"/>
            <a:ext cx="504825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Lato"/>
              </a:rPr>
              <a:t>Clean</a:t>
            </a:r>
            <a:r>
              <a:rPr sz="1500" b="0" i="0" u="none">
                <a:solidFill>
                  <a:srgbClr val="D1D5DB"/>
                </a:solidFill>
                <a:latin typeface="Lato"/>
              </a:rPr>
              <a:t> and prepare raw HR data for analysis.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362128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D1D5DB"/>
                </a:solidFill>
                <a:latin typeface="La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621285"/>
            <a:ext cx="504825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BBF24"/>
                </a:solidFill>
                <a:latin typeface="Lato"/>
              </a:rPr>
              <a:t>Identify</a:t>
            </a:r>
            <a:r>
              <a:rPr sz="1500" b="0" i="0" u="none">
                <a:solidFill>
                  <a:srgbClr val="D1D5DB"/>
                </a:solidFill>
                <a:latin typeface="Lato"/>
              </a:rPr>
              <a:t> the strongest drivers of employee turnover.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325" y="406896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D1D5DB"/>
                </a:solidFill>
                <a:latin typeface="La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068960"/>
            <a:ext cx="504825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Lato"/>
              </a:rPr>
              <a:t>Generate</a:t>
            </a:r>
            <a:r>
              <a:rPr sz="1500" b="0" i="0" u="none">
                <a:solidFill>
                  <a:srgbClr val="D1D5DB"/>
                </a:solidFill>
                <a:latin typeface="Lato"/>
              </a:rPr>
              <a:t> actionable, data-driven business recommendations.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325" y="451663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D1D5DB"/>
                </a:solidFill>
                <a:latin typeface="La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4516635"/>
            <a:ext cx="50482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Lato"/>
              </a:rPr>
              <a:t>Prepare</a:t>
            </a:r>
            <a:r>
              <a:rPr sz="1500" b="0" i="0" u="none">
                <a:solidFill>
                  <a:srgbClr val="D1D5DB"/>
                </a:solidFill>
                <a:latin typeface="Lato"/>
              </a:rPr>
              <a:t> the dataset for future predictive machine learning models.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162175"/>
            <a:ext cx="5267325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5286375" cy="4495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714500"/>
            <a:ext cx="5286375" cy="449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38BDF8"/>
                </a:solidFill>
                <a:latin typeface="Poppins SemiBold"/>
              </a:rPr>
              <a:t>Data Preparation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9391" y="2105025"/>
            <a:ext cx="473059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FBBF24"/>
                </a:solidFill>
                <a:latin typeface="Poppins SemiBold"/>
              </a:rPr>
              <a:t>Cleaning &amp; Imputation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2647950"/>
            <a:ext cx="4505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D1D5DB"/>
                </a:solidFill>
                <a:latin typeface="Lato"/>
              </a:rPr>
              <a:t>Duplicate Removal:</a:t>
            </a:r>
            <a:r>
              <a:rPr sz="1500" b="0" i="0" u="none">
                <a:solidFill>
                  <a:srgbClr val="D1D5DB"/>
                </a:solidFill>
                <a:latin typeface="Lato"/>
              </a:rPr>
              <a:t> Duplicate employee records were identified and removed.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400425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D1D5DB"/>
                </a:solidFill>
                <a:latin typeface="Lato"/>
              </a:rPr>
              <a:t>Missing Values:</a:t>
            </a:r>
            <a:r>
              <a:rPr sz="1500" b="0" i="0" u="none">
                <a:solidFill>
                  <a:srgbClr val="D1D5DB"/>
                </a:solidFill>
                <a:latin typeface="Lato"/>
              </a:rPr>
              <a:t> Replaced using the </a:t>
            </a:r>
            <a:r>
              <a:rPr sz="1500" b="1" i="0" u="none">
                <a:solidFill>
                  <a:srgbClr val="38BDF8"/>
                </a:solidFill>
                <a:latin typeface="Lato"/>
              </a:rPr>
              <a:t>median</a:t>
            </a:r>
            <a:r>
              <a:rPr sz="1500" b="0" i="0" u="none">
                <a:solidFill>
                  <a:srgbClr val="D1D5DB"/>
                </a:solidFill>
                <a:latin typeface="Lato"/>
              </a:rPr>
              <a:t> (Age, Income, YearsAtCompany) and </a:t>
            </a:r>
            <a:r>
              <a:rPr sz="1500" b="1" i="0" u="none">
                <a:solidFill>
                  <a:srgbClr val="38BDF8"/>
                </a:solidFill>
                <a:latin typeface="Lato"/>
              </a:rPr>
              <a:t>mode</a:t>
            </a:r>
            <a:r>
              <a:rPr sz="1500" b="0" i="0" u="none">
                <a:solidFill>
                  <a:srgbClr val="D1D5DB"/>
                </a:solidFill>
                <a:latin typeface="Lato"/>
              </a:rPr>
              <a:t> (EducationField, JobRole).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4457700"/>
            <a:ext cx="4505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D1D5DB"/>
                </a:solidFill>
                <a:latin typeface="Lato"/>
              </a:rPr>
              <a:t>Standardization:</a:t>
            </a:r>
            <a:r>
              <a:rPr sz="1500" b="0" i="0" u="none">
                <a:solidFill>
                  <a:srgbClr val="D1D5DB"/>
                </a:solidFill>
                <a:latin typeface="Lato"/>
              </a:rPr>
              <a:t> Corrected inconsistent formatting (e.g., "sales" → "Sales", "Sales Ex." → "Sales Executive").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2016" y="2105025"/>
            <a:ext cx="473059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38BDF8"/>
                </a:solidFill>
                <a:latin typeface="Poppins SemiBold"/>
              </a:rPr>
              <a:t>Processing &amp; Scaling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4650" y="2647950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b="1" i="0" u="none" dirty="0">
                <a:solidFill>
                  <a:srgbClr val="D1D5DB"/>
                </a:solidFill>
                <a:latin typeface="Lato"/>
              </a:rPr>
              <a:t>Removing Columns:</a:t>
            </a:r>
            <a:r>
              <a:rPr lang="en-US" sz="1500" b="0" i="0" u="none" dirty="0">
                <a:solidFill>
                  <a:srgbClr val="D1D5DB"/>
                </a:solidFill>
                <a:latin typeface="Lato"/>
              </a:rPr>
              <a:t> Dropped variables with no analytical value (</a:t>
            </a:r>
            <a:r>
              <a:rPr lang="en-US" sz="1500" b="0" i="0" u="none" dirty="0" err="1">
                <a:solidFill>
                  <a:srgbClr val="D1D5DB"/>
                </a:solidFill>
                <a:latin typeface="Lato"/>
              </a:rPr>
              <a:t>EmployeeCount</a:t>
            </a:r>
            <a:r>
              <a:rPr lang="en-US" sz="1500" b="0" i="0" u="none" dirty="0">
                <a:solidFill>
                  <a:srgbClr val="D1D5DB"/>
                </a:solidFill>
                <a:latin typeface="Lato"/>
              </a:rPr>
              <a:t>, </a:t>
            </a:r>
            <a:r>
              <a:rPr lang="en-US" sz="1500" b="0" i="0" u="none" dirty="0" err="1">
                <a:solidFill>
                  <a:srgbClr val="D1D5DB"/>
                </a:solidFill>
                <a:latin typeface="Lato"/>
              </a:rPr>
              <a:t>StandardHours</a:t>
            </a:r>
            <a:r>
              <a:rPr lang="en-US" sz="1500" b="0" i="0" u="none" dirty="0">
                <a:solidFill>
                  <a:srgbClr val="D1D5DB"/>
                </a:solidFill>
                <a:latin typeface="Lato"/>
              </a:rPr>
              <a:t>, Over18,RecordID,EmployeeNumber,ManagerNotes).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3705225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D1D5DB"/>
                </a:solidFill>
                <a:latin typeface="Lato"/>
              </a:rPr>
              <a:t>Outlier Treatment:</a:t>
            </a:r>
            <a:r>
              <a:rPr sz="1500" b="0" i="0" u="none" dirty="0">
                <a:solidFill>
                  <a:srgbClr val="D1D5DB"/>
                </a:solidFill>
                <a:latin typeface="Lato"/>
              </a:rPr>
              <a:t> Extreme observations removed using the </a:t>
            </a:r>
            <a:r>
              <a:rPr sz="1500" b="1" i="0" u="none" dirty="0">
                <a:solidFill>
                  <a:srgbClr val="FBBF24"/>
                </a:solidFill>
                <a:latin typeface="Lato"/>
              </a:rPr>
              <a:t>IQR method</a:t>
            </a:r>
            <a:r>
              <a:rPr sz="1500" b="0" i="0" u="none" dirty="0">
                <a:solidFill>
                  <a:srgbClr val="D1D5DB"/>
                </a:solidFill>
                <a:latin typeface="Lato"/>
              </a:rPr>
              <a:t> (Age, Income, </a:t>
            </a:r>
            <a:r>
              <a:rPr sz="1500" b="0" i="0" u="none" dirty="0" err="1">
                <a:solidFill>
                  <a:srgbClr val="D1D5DB"/>
                </a:solidFill>
                <a:latin typeface="Lato"/>
              </a:rPr>
              <a:t>DistanceFromHome</a:t>
            </a:r>
            <a:r>
              <a:rPr sz="1500" b="0" i="0" u="none" dirty="0">
                <a:solidFill>
                  <a:srgbClr val="D1D5DB"/>
                </a:solidFill>
                <a:latin typeface="Lato"/>
              </a:rPr>
              <a:t>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4650" y="4762500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D1D5DB"/>
                </a:solidFill>
                <a:latin typeface="Lato"/>
              </a:rPr>
              <a:t>Encoding &amp; Scaling:</a:t>
            </a:r>
            <a:r>
              <a:rPr sz="1500" b="0" i="0" u="none" dirty="0">
                <a:solidFill>
                  <a:srgbClr val="D1D5DB"/>
                </a:solidFill>
                <a:latin typeface="Lato"/>
              </a:rPr>
              <a:t> Applied Label Encoding and One-Hot Encoding. Features were scaled using </a:t>
            </a:r>
            <a:r>
              <a:rPr sz="1500" b="1" i="0" u="none" dirty="0" err="1">
                <a:solidFill>
                  <a:srgbClr val="38BDF8"/>
                </a:solidFill>
                <a:latin typeface="Lato"/>
              </a:rPr>
              <a:t>StandardScaler</a:t>
            </a:r>
            <a:r>
              <a:rPr sz="1500" b="0" i="0" u="none">
                <a:solidFill>
                  <a:srgbClr val="D1D5DB"/>
                </a:solidFill>
                <a:latin typeface="Lato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90662"/>
            <a:ext cx="11049000" cy="4943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23862"/>
            <a:ext cx="116014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38BDF8"/>
                </a:solidFill>
                <a:latin typeface="Poppins SemiBold"/>
              </a:rPr>
              <a:t>Overall Attrition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90612"/>
            <a:ext cx="11049000" cy="19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3950" y="5681662"/>
            <a:ext cx="99441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1" u="none">
                <a:solidFill>
                  <a:srgbClr val="D1D5DB"/>
                </a:solidFill>
                <a:latin typeface="Lato"/>
              </a:rPr>
              <a:t>Only a minority of employees left the organization. However, when evaluated proportionally, </a:t>
            </a:r>
            <a:r>
              <a:rPr sz="1500" b="1" i="1" u="none">
                <a:solidFill>
                  <a:srgbClr val="FBBF24"/>
                </a:solidFill>
                <a:latin typeface="Lato"/>
              </a:rPr>
              <a:t>Human Resources</a:t>
            </a:r>
            <a:r>
              <a:rPr sz="1500" b="0" i="1" u="none">
                <a:solidFill>
                  <a:srgbClr val="D1D5DB"/>
                </a:solidFill>
                <a:latin typeface="Lato"/>
              </a:rPr>
              <a:t> and </a:t>
            </a:r>
            <a:r>
              <a:rPr sz="1500" b="1" i="1" u="none">
                <a:solidFill>
                  <a:srgbClr val="FBBF24"/>
                </a:solidFill>
                <a:latin typeface="Lato"/>
              </a:rPr>
              <a:t>Sales</a:t>
            </a:r>
            <a:r>
              <a:rPr sz="1500" b="0" i="1" u="none">
                <a:solidFill>
                  <a:srgbClr val="D1D5DB"/>
                </a:solidFill>
                <a:latin typeface="Lato"/>
              </a:rPr>
              <a:t> experience higher attrition rates than Research &amp; Development.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38BDF8"/>
                </a:solidFill>
                <a:latin typeface="Poppins SemiBold"/>
              </a:rPr>
              <a:t>Employee Risk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09750" y="2116633"/>
            <a:ext cx="9048750" cy="9923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9FAFB"/>
                </a:solidFill>
                <a:latin typeface="Lato"/>
              </a:rPr>
              <a:t>High-Risk Characteristics</a:t>
            </a:r>
            <a:r>
              <a:rPr sz="1500" b="0" i="0" u="none">
                <a:solidFill>
                  <a:srgbClr val="D1D5DB"/>
                </a:solidFill>
                <a:latin typeface="Lato"/>
              </a:rPr>
              <a:t> The employees most likely to leave typically share several key traits: They work </a:t>
            </a:r>
            <a:r>
              <a:rPr sz="1500" b="1" i="0" u="none">
                <a:solidFill>
                  <a:srgbClr val="F87171"/>
                </a:solidFill>
                <a:latin typeface="Lato"/>
              </a:rPr>
              <a:t>overtime</a:t>
            </a:r>
            <a:r>
              <a:rPr sz="1500" b="0" i="0" u="none">
                <a:solidFill>
                  <a:srgbClr val="D1D5DB"/>
                </a:solidFill>
                <a:latin typeface="Lato"/>
              </a:rPr>
              <a:t>, frequently travel, earn relatively lower salaries, are in the early stages of their careers, have lower job satisfaction, and are single.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3347144"/>
            <a:ext cx="9048750" cy="9923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9FAFB"/>
                </a:solidFill>
                <a:latin typeface="Lato"/>
              </a:rPr>
              <a:t>Retention Indicators</a:t>
            </a:r>
            <a:r>
              <a:rPr sz="1500" b="0" i="0" u="none">
                <a:solidFill>
                  <a:srgbClr val="D1D5DB"/>
                </a:solidFill>
                <a:latin typeface="Lato"/>
              </a:rPr>
              <a:t> Conversely, employees with longer tenure, higher salaries, no overtime requirements, and greater job satisfaction demonstrate </a:t>
            </a:r>
            <a:r>
              <a:rPr sz="1500" b="1" i="0" u="none">
                <a:solidFill>
                  <a:srgbClr val="FBBF24"/>
                </a:solidFill>
                <a:latin typeface="Lato"/>
              </a:rPr>
              <a:t>significantly higher retention rates</a:t>
            </a:r>
            <a:r>
              <a:rPr sz="1500" b="0" i="0" u="none">
                <a:solidFill>
                  <a:srgbClr val="D1D5DB"/>
                </a:solidFill>
                <a:latin typeface="Lato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9750" y="4577655"/>
            <a:ext cx="9048750" cy="9923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9FAFB"/>
                </a:solidFill>
                <a:latin typeface="Lato"/>
              </a:rPr>
              <a:t>The Role of Training</a:t>
            </a:r>
            <a:r>
              <a:rPr sz="1500" b="0" i="0" u="none">
                <a:solidFill>
                  <a:srgbClr val="D1D5DB"/>
                </a:solidFill>
                <a:latin typeface="Lato"/>
              </a:rPr>
              <a:t> Employees who received no training during the previous year experienced the highest attrition. Training appears to directly support employee engagement and long-term retention.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130921"/>
            <a:ext cx="266700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4591942"/>
            <a:ext cx="333375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10940"/>
            <a:ext cx="11049000" cy="43027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38BDF8"/>
                </a:solidFill>
                <a:latin typeface="Poppins SemiBold"/>
              </a:rPr>
              <a:t>Feature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1025" y="1820465"/>
          <a:ext cx="11029949" cy="4283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8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1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6743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New Feature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Business Purpose &amp; Definition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6743"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D1D5DB"/>
                          </a:solidFill>
                          <a:latin typeface="Lato"/>
                        </a:rPr>
                        <a:t>ExperienceLevel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D1D5DB"/>
                          </a:solidFill>
                          <a:latin typeface="Lato"/>
                        </a:rPr>
                        <a:t>Categorizes employees into Junior, Mid, Senior, and Expert groups for targeted analysis.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6743"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D1D5DB"/>
                          </a:solidFill>
                          <a:latin typeface="Lato"/>
                        </a:rPr>
                        <a:t>TenureGroup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D1D5DB"/>
                          </a:solidFill>
                          <a:latin typeface="Lato"/>
                        </a:rPr>
                        <a:t>Groups employees based on the total number of years spent actively working in the company.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6743"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D1D5DB"/>
                          </a:solidFill>
                          <a:latin typeface="Lato"/>
                        </a:rPr>
                        <a:t>PromotionRate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D1D5DB"/>
                          </a:solidFill>
                          <a:latin typeface="Lato"/>
                        </a:rPr>
                        <a:t>Measures employee progression based on years at the company relative to the time since their last promotion.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6747"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D1D5DB"/>
                          </a:solidFill>
                          <a:latin typeface="Lato"/>
                        </a:rPr>
                        <a:t>HighIncome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D1D5DB"/>
                          </a:solidFill>
                          <a:latin typeface="Lato"/>
                        </a:rPr>
                        <a:t>A binary indicator showing whether an employee earns above or below the company's median salary.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81025" y="2511028"/>
            <a:ext cx="3308895" cy="9525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89920" y="2511028"/>
            <a:ext cx="7721054" cy="9525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3191023"/>
            <a:ext cx="3308895" cy="9525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89920" y="3191023"/>
            <a:ext cx="7721054" cy="9525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4160490"/>
            <a:ext cx="3308895" cy="9525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89920" y="4160490"/>
            <a:ext cx="7721054" cy="9525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5129956"/>
            <a:ext cx="3308895" cy="9525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89920" y="5129956"/>
            <a:ext cx="7721054" cy="9525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48916"/>
            <a:ext cx="3492549" cy="38269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048916"/>
            <a:ext cx="3492549" cy="382696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048916"/>
            <a:ext cx="3492549" cy="38269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38BDF8"/>
                </a:solidFill>
                <a:latin typeface="Poppins SemiBold"/>
              </a:rPr>
              <a:t>Business Recommendations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212" y="4344441"/>
            <a:ext cx="324712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F3F4F6"/>
                </a:solidFill>
                <a:latin typeface="Poppins SemiBold"/>
              </a:rPr>
              <a:t>Reduce Overtime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801641"/>
            <a:ext cx="3092499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D1D5DB"/>
                </a:solidFill>
                <a:latin typeface="Lato"/>
              </a:rPr>
              <a:t>Monitor overtime continuously and introduce flexible scheduling or compensatory leave to reduce </a:t>
            </a:r>
            <a:r>
              <a:rPr sz="1200" b="1" i="0" u="none">
                <a:solidFill>
                  <a:srgbClr val="FBBF24"/>
                </a:solidFill>
                <a:latin typeface="Lato"/>
              </a:rPr>
              <a:t>burnout</a:t>
            </a:r>
            <a:r>
              <a:rPr sz="1200" b="0" i="0" u="none">
                <a:solidFill>
                  <a:srgbClr val="D1D5DB"/>
                </a:solidFill>
                <a:latin typeface="Lato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2512" y="4344441"/>
            <a:ext cx="324712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F3F4F6"/>
                </a:solidFill>
                <a:latin typeface="Poppins SemiBold"/>
              </a:rPr>
              <a:t>Strengthen Retention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9824" y="4801641"/>
            <a:ext cx="3092499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D1D5DB"/>
                </a:solidFill>
                <a:latin typeface="Lato"/>
              </a:rPr>
              <a:t>Implement structured </a:t>
            </a:r>
            <a:r>
              <a:rPr sz="1200" b="1" i="0" u="none">
                <a:solidFill>
                  <a:srgbClr val="38BDF8"/>
                </a:solidFill>
                <a:latin typeface="Lato"/>
              </a:rPr>
              <a:t>onboarding programs</a:t>
            </a:r>
            <a:r>
              <a:rPr sz="1200" b="0" i="0" u="none">
                <a:solidFill>
                  <a:srgbClr val="D1D5DB"/>
                </a:solidFill>
                <a:latin typeface="Lato"/>
              </a:rPr>
              <a:t> and regular follow-up meetings during employees' first years.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0811" y="4344441"/>
            <a:ext cx="324712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F3F4F6"/>
                </a:solidFill>
                <a:latin typeface="Poppins SemiBold"/>
              </a:rPr>
              <a:t>Review Compensation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8124" y="4801641"/>
            <a:ext cx="3092499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D1D5DB"/>
                </a:solidFill>
                <a:latin typeface="Lato"/>
              </a:rPr>
              <a:t>Benchmark salaries against market standards, particularly for </a:t>
            </a:r>
            <a:r>
              <a:rPr sz="1200" b="1" i="0" u="none">
                <a:solidFill>
                  <a:srgbClr val="FBBF24"/>
                </a:solidFill>
                <a:latin typeface="Lato"/>
              </a:rPr>
              <a:t>junior employees</a:t>
            </a:r>
            <a:r>
              <a:rPr sz="1200" b="0" i="0" u="none">
                <a:solidFill>
                  <a:srgbClr val="D1D5DB"/>
                </a:solidFill>
                <a:latin typeface="Lato"/>
              </a:rPr>
              <a:t>, to remain competitive.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2248941"/>
            <a:ext cx="3092499" cy="1905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824" y="2248941"/>
            <a:ext cx="3092499" cy="1905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248941"/>
            <a:ext cx="3092499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1720304"/>
            <a:ext cx="114300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80435" y="2044154"/>
            <a:ext cx="9031128" cy="1009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50" b="1" i="0" u="none">
                <a:solidFill>
                  <a:srgbClr val="38BDF8"/>
                </a:solidFill>
                <a:latin typeface="Poppins"/>
              </a:rPr>
              <a:t>Future 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44304"/>
            <a:ext cx="7620000" cy="7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D1D5DB"/>
                </a:solidFill>
                <a:latin typeface="Lato"/>
              </a:rPr>
              <a:t>The cleaned dataset is now fully optimized and suitable for predictive machine learning.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0800" y="4227165"/>
            <a:ext cx="701040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1" i="0" u="none">
                <a:solidFill>
                  <a:srgbClr val="38BDF8"/>
                </a:solidFill>
                <a:latin typeface="Lato"/>
              </a:rPr>
              <a:t>Logistic Regression • Decision Tree • Random Forest • XGBoost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813845"/>
            <a:ext cx="7620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D1D5DB"/>
                </a:solidFill>
                <a:latin typeface="Lato"/>
              </a:rPr>
              <a:t>A predictive attrition model will help HR proactively identify employees at </a:t>
            </a:r>
            <a:r>
              <a:rPr sz="1500" b="1" i="0" u="none">
                <a:solidFill>
                  <a:srgbClr val="F87171"/>
                </a:solidFill>
                <a:latin typeface="Lato"/>
              </a:rPr>
              <a:t>high risk</a:t>
            </a:r>
            <a:r>
              <a:rPr sz="1500" b="0" i="0" u="none">
                <a:solidFill>
                  <a:srgbClr val="D1D5DB"/>
                </a:solidFill>
                <a:latin typeface="Lato"/>
              </a:rPr>
              <a:t> of resignation and intervene before turnover occurs.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701</Words>
  <Application>Microsoft Office PowerPoint</Application>
  <PresentationFormat>Widescreen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Lato</vt:lpstr>
      <vt:lpstr>Lato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Alzahraa Gamal</cp:lastModifiedBy>
  <cp:revision>3</cp:revision>
  <dcterms:created xsi:type="dcterms:W3CDTF">2013-01-27T09:14:16Z</dcterms:created>
  <dcterms:modified xsi:type="dcterms:W3CDTF">2026-07-22T12:46:22Z</dcterms:modified>
  <cp:category/>
</cp:coreProperties>
</file>